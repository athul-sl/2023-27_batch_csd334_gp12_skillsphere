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75" r:id="rId4"/>
    <p:sldId id="258" r:id="rId5"/>
    <p:sldId id="259" r:id="rId6"/>
    <p:sldId id="267" r:id="rId7"/>
    <p:sldId id="260" r:id="rId8"/>
    <p:sldId id="261" r:id="rId9"/>
    <p:sldId id="264" r:id="rId10"/>
    <p:sldId id="272" r:id="rId11"/>
    <p:sldId id="273" r:id="rId12"/>
    <p:sldId id="274" r:id="rId13"/>
    <p:sldId id="271" r:id="rId14"/>
    <p:sldId id="270" r:id="rId15"/>
    <p:sldId id="263" r:id="rId16"/>
    <p:sldId id="269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02" autoAdjust="0"/>
  </p:normalViewPr>
  <p:slideViewPr>
    <p:cSldViewPr snapToGrid="0">
      <p:cViewPr varScale="1">
        <p:scale>
          <a:sx n="76" d="100"/>
          <a:sy n="76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9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74233" y="2250200"/>
            <a:ext cx="8466800" cy="19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74233" y="4244000"/>
            <a:ext cx="8466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22952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" name="Google Shape;12;p2"/>
          <p:cNvCxnSpPr>
            <a:cxnSpLocks/>
          </p:cNvCxnSpPr>
          <p:nvPr/>
        </p:nvCxnSpPr>
        <p:spPr>
          <a:xfrm>
            <a:off x="11574333" y="-47600"/>
            <a:ext cx="0" cy="695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7434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oogle Shape;207;p28">
            <a:extLst>
              <a:ext uri="{FF2B5EF4-FFF2-40B4-BE49-F238E27FC236}">
                <a16:creationId xmlns:a16="http://schemas.microsoft.com/office/drawing/2014/main" id="{D772A24D-C045-FCB2-3585-058986696162}"/>
              </a:ext>
            </a:extLst>
          </p:cNvPr>
          <p:cNvGrpSpPr/>
          <p:nvPr userDrawn="1"/>
        </p:nvGrpSpPr>
        <p:grpSpPr>
          <a:xfrm>
            <a:off x="646545" y="697353"/>
            <a:ext cx="11545454" cy="365125"/>
            <a:chOff x="2220050" y="1547100"/>
            <a:chExt cx="7055100" cy="0"/>
          </a:xfrm>
        </p:grpSpPr>
        <p:cxnSp>
          <p:nvCxnSpPr>
            <p:cNvPr id="8" name="Google Shape;208;p28">
              <a:extLst>
                <a:ext uri="{FF2B5EF4-FFF2-40B4-BE49-F238E27FC236}">
                  <a16:creationId xmlns:a16="http://schemas.microsoft.com/office/drawing/2014/main" id="{F9FD8E96-5B45-6D35-A856-B563902D983A}"/>
                </a:ext>
              </a:extLst>
            </p:cNvPr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209;p28">
              <a:extLst>
                <a:ext uri="{FF2B5EF4-FFF2-40B4-BE49-F238E27FC236}">
                  <a16:creationId xmlns:a16="http://schemas.microsoft.com/office/drawing/2014/main" id="{5ADA6308-B028-98B9-9D15-2C47B7A3C378}"/>
                </a:ext>
              </a:extLst>
            </p:cNvPr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7862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8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8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3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2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2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08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2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3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52" r:id="rId2"/>
    <p:sldLayoutId id="2147483747" r:id="rId3"/>
    <p:sldLayoutId id="2147483748" r:id="rId4"/>
    <p:sldLayoutId id="2147483749" r:id="rId5"/>
    <p:sldLayoutId id="2147483750" r:id="rId6"/>
    <p:sldLayoutId id="2147483744" r:id="rId7"/>
    <p:sldLayoutId id="2147483740" r:id="rId8"/>
    <p:sldLayoutId id="2147483741" r:id="rId9"/>
    <p:sldLayoutId id="2147483742" r:id="rId10"/>
    <p:sldLayoutId id="2147483743" r:id="rId11"/>
    <p:sldLayoutId id="2147483745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9722" y="3481170"/>
            <a:ext cx="6932556" cy="1908000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0" i="1" dirty="0">
                <a:solidFill>
                  <a:schemeClr val="bg1"/>
                </a:solidFill>
              </a:rPr>
              <a:t>A Hyper-Local Campus Freelance &amp; Skill Exchange Marketplace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66398" y="5364877"/>
            <a:ext cx="4561344" cy="1222735"/>
          </a:xfr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Group 12</a:t>
            </a:r>
          </a:p>
          <a:p>
            <a:r>
              <a:rPr lang="en-US" sz="2400" dirty="0">
                <a:solidFill>
                  <a:schemeClr val="bg1"/>
                </a:solidFill>
              </a:rPr>
              <a:t>Abhishek A P, Athul S L,                                     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Dev Narayanan S Nair, Jayaraj 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UNDER THE GUIDANCE OF</a:t>
            </a:r>
          </a:p>
          <a:p>
            <a:pPr>
              <a:spcBef>
                <a:spcPts val="0"/>
              </a:spcBef>
            </a:pPr>
            <a:r>
              <a:rPr lang="en-IN" b="1" i="0" dirty="0">
                <a:solidFill>
                  <a:schemeClr val="bg1"/>
                </a:solidFill>
              </a:rPr>
              <a:t>Smt. Athira Prakash J 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10467-2EB3-1E07-8D50-3E9BF59F15FB}"/>
              </a:ext>
            </a:extLst>
          </p:cNvPr>
          <p:cNvSpPr txBox="1"/>
          <p:nvPr/>
        </p:nvSpPr>
        <p:spPr>
          <a:xfrm>
            <a:off x="3097985" y="2484710"/>
            <a:ext cx="5926745" cy="199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</a:rPr>
              <a:t>SKILLSPHERE</a:t>
            </a:r>
            <a:br>
              <a:rPr lang="en-IN" sz="6000" b="1" dirty="0">
                <a:solidFill>
                  <a:schemeClr val="bg1"/>
                </a:solidFill>
              </a:rPr>
            </a:br>
            <a:endParaRPr lang="en-IN" sz="6000" b="1" dirty="0"/>
          </a:p>
        </p:txBody>
      </p:sp>
      <p:grpSp>
        <p:nvGrpSpPr>
          <p:cNvPr id="7" name="Google Shape;207;p28">
            <a:extLst>
              <a:ext uri="{FF2B5EF4-FFF2-40B4-BE49-F238E27FC236}">
                <a16:creationId xmlns:a16="http://schemas.microsoft.com/office/drawing/2014/main" id="{529B1B7B-294D-B610-A6AE-D17FD909E970}"/>
              </a:ext>
            </a:extLst>
          </p:cNvPr>
          <p:cNvGrpSpPr/>
          <p:nvPr/>
        </p:nvGrpSpPr>
        <p:grpSpPr>
          <a:xfrm>
            <a:off x="3707296" y="2312177"/>
            <a:ext cx="8484704" cy="451696"/>
            <a:chOff x="2220050" y="1547100"/>
            <a:chExt cx="7055100" cy="0"/>
          </a:xfrm>
        </p:grpSpPr>
        <p:cxnSp>
          <p:nvCxnSpPr>
            <p:cNvPr id="8" name="Google Shape;208;p28">
              <a:extLst>
                <a:ext uri="{FF2B5EF4-FFF2-40B4-BE49-F238E27FC236}">
                  <a16:creationId xmlns:a16="http://schemas.microsoft.com/office/drawing/2014/main" id="{9C78C303-5EA7-9971-54C8-1088685A8852}"/>
                </a:ext>
              </a:extLst>
            </p:cNvPr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209;p28">
              <a:extLst>
                <a:ext uri="{FF2B5EF4-FFF2-40B4-BE49-F238E27FC236}">
                  <a16:creationId xmlns:a16="http://schemas.microsoft.com/office/drawing/2014/main" id="{04B9EADF-0881-1223-0AE6-E21E87120689}"/>
                </a:ext>
              </a:extLst>
            </p:cNvPr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E14F-9EF7-0C6C-0690-185CF53B4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CE561-01A0-2DBD-3812-60F631728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Students often possess marketable skills (coding, design, photography) but lack a platform to monetize them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within the campus.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Current systems for finding help are fragmented (WhatsApp, word-of-mouth), leading to inefficiency and lack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of trust.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This project aims to build a verified, exclusive campus marketplace that: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Connects student freelancers with peers who need services.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dirty="0"/>
              <a:t>Verifies users via college credentials to ensure safety.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Facilitates secure communication and service tracking.</a:t>
            </a:r>
          </a:p>
        </p:txBody>
      </p:sp>
    </p:spTree>
    <p:extLst>
      <p:ext uri="{BB962C8B-B14F-4D97-AF65-F5344CB8AC3E}">
        <p14:creationId xmlns:p14="http://schemas.microsoft.com/office/powerpoint/2010/main" val="358737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C40D-F8A0-00A2-193B-98E5ABF8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055B-31EE-E3AF-36D6-1B43FCA7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5B0BA-A9B5-C499-B61D-0714A207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Students have marketable skills but lack a centralized, hyper-local platform to monetize them, making talent discovery chaotic and inefficient. Global platforms create trust issues for beginners, while local methods lack verification and feedback systems. This leaves students without a secure, reliable marketplace for peer services.</a:t>
            </a:r>
          </a:p>
        </p:txBody>
      </p:sp>
    </p:spTree>
    <p:extLst>
      <p:ext uri="{BB962C8B-B14F-4D97-AF65-F5344CB8AC3E}">
        <p14:creationId xmlns:p14="http://schemas.microsoft.com/office/powerpoint/2010/main" val="201063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03BA-9932-050E-A051-2CF826F6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5CE47-719F-964A-FFE8-DD03E6DDB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- Financial Constraints: Students need pocket money but often cannot commit to full-time off-campus jobs.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- Invisibility of Talent: Talented students have no central platform to showcase their portfolios to the campus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IN" dirty="0"/>
              <a:t>   community.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- Trust Deficit: Global platforms (Fiverr/Upwork) are anonymous and highly competitive, making them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IN" dirty="0"/>
              <a:t>   unsuitable for beginners.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- Inefficient Discovery: Finding a specific service (e.g., "Need a poster designer for tomorrow") relies on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IN" dirty="0"/>
              <a:t>   chaotic group chats.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- Lack of Feedback: There is no verified rating system to judge the quality of a peer's work before hiring them.</a:t>
            </a:r>
          </a:p>
        </p:txBody>
      </p:sp>
    </p:spTree>
    <p:extLst>
      <p:ext uri="{BB962C8B-B14F-4D97-AF65-F5344CB8AC3E}">
        <p14:creationId xmlns:p14="http://schemas.microsoft.com/office/powerpoint/2010/main" val="1556306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A835-C86B-B64E-7230-66C1522F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GAP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21C0E-B57A-A8C8-F6E0-E8CE0D5C7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Existing platforms (LinkedIn, Fiverr, WhatsApp Groups) lack: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Hyper-Localization: No platform limits access to ONLY verified students of our specific college.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Micro-Transaction Support: Global platforms aren't built for small tasks like “Design a poster for 50 Rs".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Verified Trust: No guarantee that the freelancer is actually a student on the same campus.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Unified Workflow: Current methods lack a structured flow (Booking -&gt; In Progress -&gt; Completed -&gt; Rated).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649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712CC-3521-A749-89A1-21C83572C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40" y="188923"/>
            <a:ext cx="10738737" cy="6291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LITERATURE</a:t>
            </a:r>
            <a:r>
              <a:rPr lang="en-US" dirty="0"/>
              <a:t> </a:t>
            </a:r>
            <a:r>
              <a:rPr lang="en-US" sz="3600" dirty="0"/>
              <a:t>SURVEY REPORT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364F00-0CC2-3089-03B5-25188186D3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870887"/>
              </p:ext>
            </p:extLst>
          </p:nvPr>
        </p:nvGraphicFramePr>
        <p:xfrm>
          <a:off x="564340" y="960699"/>
          <a:ext cx="11063319" cy="5393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717">
                  <a:extLst>
                    <a:ext uri="{9D8B030D-6E8A-4147-A177-3AD203B41FA5}">
                      <a16:colId xmlns:a16="http://schemas.microsoft.com/office/drawing/2014/main" val="575613570"/>
                    </a:ext>
                  </a:extLst>
                </a:gridCol>
                <a:gridCol w="2417939">
                  <a:extLst>
                    <a:ext uri="{9D8B030D-6E8A-4147-A177-3AD203B41FA5}">
                      <a16:colId xmlns:a16="http://schemas.microsoft.com/office/drawing/2014/main" val="1890260850"/>
                    </a:ext>
                  </a:extLst>
                </a:gridCol>
                <a:gridCol w="2221480">
                  <a:extLst>
                    <a:ext uri="{9D8B030D-6E8A-4147-A177-3AD203B41FA5}">
                      <a16:colId xmlns:a16="http://schemas.microsoft.com/office/drawing/2014/main" val="769550611"/>
                    </a:ext>
                  </a:extLst>
                </a:gridCol>
                <a:gridCol w="1965409">
                  <a:extLst>
                    <a:ext uri="{9D8B030D-6E8A-4147-A177-3AD203B41FA5}">
                      <a16:colId xmlns:a16="http://schemas.microsoft.com/office/drawing/2014/main" val="3279587490"/>
                    </a:ext>
                  </a:extLst>
                </a:gridCol>
                <a:gridCol w="1843887">
                  <a:extLst>
                    <a:ext uri="{9D8B030D-6E8A-4147-A177-3AD203B41FA5}">
                      <a16:colId xmlns:a16="http://schemas.microsoft.com/office/drawing/2014/main" val="752482886"/>
                    </a:ext>
                  </a:extLst>
                </a:gridCol>
                <a:gridCol w="1843887">
                  <a:extLst>
                    <a:ext uri="{9D8B030D-6E8A-4147-A177-3AD203B41FA5}">
                      <a16:colId xmlns:a16="http://schemas.microsoft.com/office/drawing/2014/main" val="2738100967"/>
                    </a:ext>
                  </a:extLst>
                </a:gridCol>
              </a:tblGrid>
              <a:tr h="54990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 NO.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Author(s)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Title/Year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Methodology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Results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Limitation / Gap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97610"/>
                  </a:ext>
                </a:extLst>
              </a:tr>
              <a:tr h="1132657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 sz="1200" dirty="0"/>
                        <a:t>Amritesh Kumar </a:t>
                      </a:r>
                    </a:p>
                    <a:p>
                      <a:pPr lvl="0">
                        <a:buNone/>
                      </a:pPr>
                      <a:r>
                        <a:rPr lang="sv-SE" sz="1200" dirty="0"/>
                        <a:t>Sukhbir </a:t>
                      </a:r>
                    </a:p>
                    <a:p>
                      <a:pPr lvl="0">
                        <a:buNone/>
                      </a:pPr>
                      <a:r>
                        <a:rPr lang="sv-SE" sz="1200" dirty="0"/>
                        <a:t>Kunal Sharma </a:t>
                      </a:r>
                    </a:p>
                    <a:p>
                      <a:pPr lvl="0">
                        <a:buNone/>
                      </a:pPr>
                      <a:r>
                        <a:rPr lang="sv-SE" sz="1200" dirty="0"/>
                        <a:t>Sohail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 err="1">
                          <a:solidFill>
                            <a:schemeClr val="tx1"/>
                          </a:solidFill>
                          <a:latin typeface="Bierstadt"/>
                        </a:rPr>
                        <a:t>Skillify</a:t>
                      </a: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Bierstadt"/>
                        </a:rPr>
                        <a:t>: Peer-To-Peer Barter-Based Exchange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Bierstadt"/>
                        </a:rPr>
                        <a:t>(IRJMETS, 2026)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</a:rPr>
                        <a:t>Node.js and Socket.io platform for trading skills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</a:rPr>
                        <a:t>(e.g. Coding for Design)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Bierstadt"/>
                        </a:rPr>
                        <a:t>Democratized knowledge sharing without financial barriers.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</a:rPr>
                        <a:t>Barter-Only Model: Fails when needs aren’t mutual. Does not help students earn money.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47207"/>
                  </a:ext>
                </a:extLst>
              </a:tr>
              <a:tr h="123708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200" dirty="0"/>
                        <a:t>Abdul Rahman Al-Zekri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Ayman </a:t>
                      </a:r>
                      <a:r>
                        <a:rPr lang="en-IN" sz="1200" dirty="0" err="1"/>
                        <a:t>Jammaa</a:t>
                      </a:r>
                      <a:r>
                        <a:rPr lang="en-IN" sz="1200" dirty="0"/>
                        <a:t> Coco </a:t>
                      </a:r>
                      <a:r>
                        <a:rPr lang="en-IN" sz="1200" dirty="0" err="1"/>
                        <a:t>Ajbna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 err="1"/>
                        <a:t>Moammad</a:t>
                      </a:r>
                      <a:r>
                        <a:rPr lang="en-IN" sz="1200" dirty="0"/>
                        <a:t> Al-Sharif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Mustafa Esmail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Dr. Niemah Izzeldin Mohamed Osman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Career Craft: A Student Training and Freelancing Platform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(Academic Journal of Research and Scientific Publishing 2024)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A web-based platform offering task-based IT training and freelancing with team projects and a ranking system.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Improved students’ practical skills and employability through real-world project exposure.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Limited to IT domain, lacks AI-based matching, and has minimal real-world user evaluation.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286910"/>
                  </a:ext>
                </a:extLst>
              </a:tr>
              <a:tr h="123708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200" dirty="0"/>
                        <a:t>Prof. Surbhi Khare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Mr. Ankit Shende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Mr. Harsh Gupta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Mr. Nitesh Tiwari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Mr. Kartik Zade</a:t>
                      </a:r>
                    </a:p>
                    <a:p>
                      <a:pPr lvl="0">
                        <a:buNone/>
                      </a:pPr>
                      <a:r>
                        <a:rPr lang="en-IN" sz="1200" dirty="0"/>
                        <a:t>Mr. Dnyaneshwar </a:t>
                      </a:r>
                      <a:r>
                        <a:rPr lang="en-IN" sz="1200" dirty="0" err="1"/>
                        <a:t>Kharabe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CampLink</a:t>
                      </a:r>
                      <a:r>
                        <a:rPr lang="en-US" sz="1200" dirty="0"/>
                        <a:t>: A Smart Platform for Collaborative Networking and Local Freelance Exchange</a:t>
                      </a:r>
                    </a:p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(IJERT, 2026)</a:t>
                      </a:r>
                    </a:p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 campus-focused freelance and networking platform using React, Node.js, and a skill-based recommendation system.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Increased peer collaboration and localized freelance opportunities among students.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Limited scalability analysis, basic recommendation logic, and mostly qualitative evaluation.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020446"/>
                  </a:ext>
                </a:extLst>
              </a:tr>
              <a:tr h="123708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Dr. Naresh </a:t>
                      </a:r>
                      <a:r>
                        <a:rPr lang="en-US" sz="1200" dirty="0" err="1"/>
                        <a:t>Thoutam</a:t>
                      </a:r>
                      <a:r>
                        <a:rPr lang="en-US" sz="1200" dirty="0"/>
                        <a:t> </a:t>
                      </a: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Atharva Kambale </a:t>
                      </a: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Gaurav </a:t>
                      </a:r>
                      <a:r>
                        <a:rPr lang="en-US" sz="1200" dirty="0" err="1"/>
                        <a:t>Bachhav</a:t>
                      </a:r>
                      <a:r>
                        <a:rPr lang="en-US" sz="1200" dirty="0"/>
                        <a:t> </a:t>
                      </a: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Pratik Kande </a:t>
                      </a: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Kanishka Wagh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Connect Sphere: Student Marketplace</a:t>
                      </a: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(IJFMR, 2025)</a:t>
                      </a:r>
                    </a:p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Uses university </a:t>
                      </a:r>
                      <a:r>
                        <a:rPr lang="en-US" sz="1200" dirty="0" err="1"/>
                        <a:t>emain</a:t>
                      </a:r>
                      <a:r>
                        <a:rPr lang="en-US" sz="1200" dirty="0"/>
                        <a:t> verification for a closed marketplace.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Solved the trust deficit prevalent in open platforms.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</a:rPr>
                        <a:t>Engagement Gap: Lacks Gamification (Coins/Badges) crucial for student retention.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11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C4C1-9776-1C9F-7CA5-22921113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8882-796E-9554-5108-77E335F9F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SkillSphere</a:t>
            </a:r>
            <a:r>
              <a:rPr lang="en-US" dirty="0"/>
              <a:t> is an AI-Assisted Campus Marketplace that: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Verifies identities using College Email domains/Roll Numbers.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Categorizes gigs into Tech, Design, Academic Help, and Lifestyle.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Utilizes a </a:t>
            </a:r>
            <a:r>
              <a:rPr lang="en-US" dirty="0" err="1"/>
              <a:t>FastAPI</a:t>
            </a:r>
            <a:r>
              <a:rPr lang="en-US" dirty="0"/>
              <a:t> backend for high-performance searching and matching.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- Provides a React-based dashboard for managing Gigs and Orders.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Key Innovation: A closed-loop, verified economy that combines the professional features of Fiverr with the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trust of a college community.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2349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46F4-CECB-24BF-0409-16F71E91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06F24-BAC9-CC90-8EFB-AB5381AF5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793" y="1887794"/>
            <a:ext cx="11155680" cy="46594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dirty="0"/>
              <a:t>1. User Management Module: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Handles Sign Up/Login with JWT Authentication.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     - Profile management (Bio, Skills, Portfolio).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2. Gig Marketplace Module: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Allows Sellers to Post, Edit, and Delete Gigs.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Displays Gigs in a responsive grid layout.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3. Search &amp; Match Module: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</a:t>
            </a:r>
            <a:r>
              <a:rPr lang="en-US" dirty="0" err="1"/>
              <a:t>FastAPI</a:t>
            </a:r>
            <a:r>
              <a:rPr lang="en-US" dirty="0"/>
              <a:t>-powered search engine to filter by tags.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Sorts results by Rating and Price.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4. Order &amp; Transaction Module: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Manages the lifecycle of a request (Pending -&gt; Accepted -&gt; Delivered).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Handles the credit transfer logic.</a:t>
            </a:r>
          </a:p>
        </p:txBody>
      </p:sp>
    </p:spTree>
    <p:extLst>
      <p:ext uri="{BB962C8B-B14F-4D97-AF65-F5344CB8AC3E}">
        <p14:creationId xmlns:p14="http://schemas.microsoft.com/office/powerpoint/2010/main" val="177812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64F3-9EE3-36FB-9004-EB0655DD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FAF9-A3AE-9AE4-8868-69CB3AAD5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51949"/>
            <a:ext cx="11161776" cy="44939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IN" dirty="0"/>
              <a:t>User Registration: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Must validate college email domains.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Users can select skills from a pre-defined list.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IN" dirty="0"/>
              <a:t>Gig Management: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Users can upload cover images for their gigs.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Gigs must have a "Delivery Time" specified.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IN" dirty="0"/>
              <a:t>Order System: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Buyers cannot order their own gigs.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Sellers can "Accept" or "Reject" an incoming order request.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IN" dirty="0"/>
              <a:t>Review System: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Only Buyers who have *completed* an order can leave a review.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- Ratings are calculated as a weighted average.</a:t>
            </a:r>
          </a:p>
        </p:txBody>
      </p:sp>
    </p:spTree>
    <p:extLst>
      <p:ext uri="{BB962C8B-B14F-4D97-AF65-F5344CB8AC3E}">
        <p14:creationId xmlns:p14="http://schemas.microsoft.com/office/powerpoint/2010/main" val="15425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D822-D20B-406F-AE7D-1610D67F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C8A0-1A5F-8726-96E4-F9A0CBA2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2B25-1EB2-669E-AD2E-F1299B06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51949"/>
            <a:ext cx="11161776" cy="4493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1. Security &amp; Authentication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-Identity Verification: The system must restrict access exclusively to users with valid college email 	  	domains to ensure a closed-loop campus economy.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-Data Protection: User passwords must be stored using secure hashing (</a:t>
            </a:r>
            <a:r>
              <a:rPr lang="en-US" dirty="0" err="1"/>
              <a:t>password_hash</a:t>
            </a:r>
            <a:r>
              <a:rPr lang="en-US" dirty="0"/>
              <a:t>), and 	sessions must be managed via JWT (JSON Web Token) authentication.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2. Performance &amp; Efficiency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-Response Time: The </a:t>
            </a:r>
            <a:r>
              <a:rPr lang="en-US" dirty="0" err="1"/>
              <a:t>FastAPI</a:t>
            </a:r>
            <a:r>
              <a:rPr lang="en-US" dirty="0"/>
              <a:t> backend must ensure high-performance searching and matching to 	prevent delays during service discovery.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-Hardware Compatibility: The application should run smoothly on standard student hardware, 	requiring at least an Intel i5/Ryzen 5 processor and 8 GB of RAM.</a:t>
            </a:r>
          </a:p>
        </p:txBody>
      </p:sp>
    </p:spTree>
    <p:extLst>
      <p:ext uri="{BB962C8B-B14F-4D97-AF65-F5344CB8AC3E}">
        <p14:creationId xmlns:p14="http://schemas.microsoft.com/office/powerpoint/2010/main" val="164000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DD5C-BDA9-75DA-4E93-75053624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FC62-F9AC-6331-6484-7751EA63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BB24-048B-FC3F-F7B3-85CEE6708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51949"/>
            <a:ext cx="11161776" cy="4493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3. Reliability &amp; Availability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-Data Consistency: The PostgreSQL database must maintain the integrity of the "Unified Workflow," 	ensuring the status of orders is accurately tracked from "Pending" to "Completed".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-Connectivity: The system must maintain a stable connection to the Cloud Database to allow real-	time updates for gig listings and order requests.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4. Usability &amp; Interface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-Responsive Design: The React-based frontend must use Tailwind CSS to provide a responsive grid 	layout that works across various screen sizes.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-Intuitive Discovery: The interface must categorize gigs (Tech, Design, Academic) to solve the 	"inefficient discovery" problem found in chaotic group chats.</a:t>
            </a:r>
          </a:p>
        </p:txBody>
      </p:sp>
    </p:spTree>
    <p:extLst>
      <p:ext uri="{BB962C8B-B14F-4D97-AF65-F5344CB8AC3E}">
        <p14:creationId xmlns:p14="http://schemas.microsoft.com/office/powerpoint/2010/main" val="3681314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2D1C5-634D-6F55-9A2E-3B2181C4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831A-3BD7-4F05-50F7-CDC65A59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4E910-87C3-8AF1-A8CE-C096CFF80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51949"/>
            <a:ext cx="11161776" cy="4493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5. Scalability &amp; Maintainability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-Modular Architecture: The system must be built using a modular approach (User, Gig, Search, Order 	modules) to allow for easy updates and feature additions like gamification.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-Standardized APIs: The use of </a:t>
            </a:r>
            <a:r>
              <a:rPr lang="en-US" dirty="0" err="1"/>
              <a:t>FastAPI’s</a:t>
            </a:r>
            <a:r>
              <a:rPr lang="en-US" dirty="0"/>
              <a:t> Swagger UI is required to ensure that APIs are well-	documented for future integration and testing.</a:t>
            </a:r>
          </a:p>
        </p:txBody>
      </p:sp>
    </p:spTree>
    <p:extLst>
      <p:ext uri="{BB962C8B-B14F-4D97-AF65-F5344CB8AC3E}">
        <p14:creationId xmlns:p14="http://schemas.microsoft.com/office/powerpoint/2010/main" val="3326820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0B2A-53E4-5644-B477-275B773C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C4777-02DA-27FC-D8F3-CEA537673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t="6756" r="24514" b="2126"/>
          <a:stretch>
            <a:fillRect/>
          </a:stretch>
        </p:blipFill>
        <p:spPr>
          <a:xfrm>
            <a:off x="3456633" y="1629541"/>
            <a:ext cx="5094514" cy="522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65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C4372C-FCB7-2B7F-2E9F-F02DE2937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480" y="1404455"/>
            <a:ext cx="8300720" cy="543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C3EE5-BDE8-A70E-41C2-6C05DFCB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DIRAGRAM</a:t>
            </a:r>
          </a:p>
        </p:txBody>
      </p:sp>
    </p:spTree>
    <p:extLst>
      <p:ext uri="{BB962C8B-B14F-4D97-AF65-F5344CB8AC3E}">
        <p14:creationId xmlns:p14="http://schemas.microsoft.com/office/powerpoint/2010/main" val="79611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8272-1D60-405B-F5ED-4AEB648A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&amp; HARDWARE </a:t>
            </a:r>
            <a:br>
              <a:rPr lang="en-US" dirty="0"/>
            </a:br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CD249-1DF1-441F-DD83-D3D6EE98BD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SOFTWARE REQUIREMENTS: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   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    - Frontend: React.js (Vite) + Tailwind CSS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    - Backend: </a:t>
            </a:r>
            <a:r>
              <a:rPr lang="en-IN" dirty="0" err="1"/>
              <a:t>FastAPI</a:t>
            </a:r>
            <a:r>
              <a:rPr lang="en-IN" dirty="0"/>
              <a:t> (Python 3.10+)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    - Database: PostgreSQL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dirty="0"/>
              <a:t>    - API Testing: Swagger UI (FastAPI)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D10DC-15C0-478B-16DE-318A2C814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8730" y="2578608"/>
            <a:ext cx="516636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HARDWARE REQUIREMENTS: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   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E1308-001D-2938-CA2A-7995F309FD81}"/>
              </a:ext>
            </a:extLst>
          </p:cNvPr>
          <p:cNvSpPr txBox="1"/>
          <p:nvPr/>
        </p:nvSpPr>
        <p:spPr>
          <a:xfrm>
            <a:off x="6263541" y="3517490"/>
            <a:ext cx="5407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Processor: Intel i5 / </a:t>
            </a:r>
            <a:r>
              <a:rPr lang="en-IN" dirty="0" err="1"/>
              <a:t>Ryzen</a:t>
            </a:r>
            <a:r>
              <a:rPr lang="en-IN" dirty="0"/>
              <a:t> 5 or higher</a:t>
            </a:r>
          </a:p>
          <a:p>
            <a:r>
              <a:rPr lang="en-IN" dirty="0"/>
              <a:t>- RAM: Minimum 8 GB</a:t>
            </a:r>
          </a:p>
          <a:p>
            <a:r>
              <a:rPr lang="en-US" dirty="0"/>
              <a:t>- Storage: 10 GB free disk space</a:t>
            </a:r>
          </a:p>
          <a:p>
            <a:r>
              <a:rPr lang="en-US" dirty="0"/>
              <a:t>- Internet: Required for Cloud Database connectivity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141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E547-7F1D-8F38-A77E-9A822F0E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EDAEA0-EA07-7D01-EC97-C6AB1F70C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207" y="1828799"/>
            <a:ext cx="10051586" cy="456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31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62E5-DAF0-027A-DA32-5AD91A68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E5BB8-2C89-916E-B825-43A7897B8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SkillSphere</a:t>
            </a:r>
            <a:r>
              <a:rPr lang="en-US" dirty="0"/>
              <a:t> successfully creates a micro-economy within the campus.</a:t>
            </a:r>
          </a:p>
          <a:p>
            <a:pPr marL="0" indent="0">
              <a:buNone/>
            </a:pPr>
            <a:r>
              <a:rPr lang="en-US" dirty="0"/>
              <a:t>- It empowers students to earn financial independence using their skills.</a:t>
            </a:r>
          </a:p>
          <a:p>
            <a:pPr marL="0" indent="0">
              <a:buNone/>
            </a:pPr>
            <a:r>
              <a:rPr lang="en-US" dirty="0"/>
              <a:t>- The system uses modern tech (</a:t>
            </a:r>
            <a:r>
              <a:rPr lang="en-US" dirty="0" err="1"/>
              <a:t>FastAPI</a:t>
            </a:r>
            <a:r>
              <a:rPr lang="en-US" dirty="0"/>
              <a:t> + React) to ensure speed and scalability.</a:t>
            </a:r>
          </a:p>
          <a:p>
            <a:pPr marL="0" indent="0">
              <a:buNone/>
            </a:pPr>
            <a:r>
              <a:rPr lang="en-US" dirty="0"/>
              <a:t>- It solves the "Trust" and "Discovery" problems prevalent in current manual methods.</a:t>
            </a:r>
          </a:p>
        </p:txBody>
      </p:sp>
    </p:spTree>
    <p:extLst>
      <p:ext uri="{BB962C8B-B14F-4D97-AF65-F5344CB8AC3E}">
        <p14:creationId xmlns:p14="http://schemas.microsoft.com/office/powerpoint/2010/main" val="2897440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EEDD-998C-B275-6B1B-2375243C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B2F5-C466-5A0B-3767-A9A4A1D5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441448"/>
            <a:ext cx="11155680" cy="39044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IRJMETS(2026) </a:t>
            </a:r>
            <a:r>
              <a:rPr lang="en-US" b="1" dirty="0" err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Skillify</a:t>
            </a:r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: Peer-To-Peer Barter-Based Skill Exchange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	</a:t>
            </a:r>
            <a:r>
              <a:rPr lang="en-US" sz="1500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Link: </a:t>
            </a:r>
            <a:r>
              <a:rPr lang="en-US" sz="1500" dirty="0">
                <a:solidFill>
                  <a:srgbClr val="333333"/>
                </a:solidFill>
                <a:ea typeface="+mn-lt"/>
                <a:cs typeface="+mn-lt"/>
              </a:rPr>
              <a:t>https://www.irjmets.com/upload_newfiles/irjmets80100027351/paper_file/irjmets80100027351.pdf?hl=en-US</a:t>
            </a:r>
            <a:endParaRPr lang="en-US" sz="1500" dirty="0">
              <a:solidFill>
                <a:srgbClr val="333333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US" b="1" dirty="0">
                <a:highlight>
                  <a:srgbClr val="FFFFFF"/>
                </a:highlight>
              </a:rPr>
              <a:t>(Academic Journal of Research and Scientific Publishing 2024)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US" b="1" dirty="0">
                <a:highlight>
                  <a:srgbClr val="FFFFFF"/>
                </a:highlight>
              </a:rPr>
              <a:t>Career Craft: A Student Training and Freelancing Platform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FF"/>
                </a:highlight>
              </a:rPr>
              <a:t>	</a:t>
            </a:r>
            <a:r>
              <a:rPr lang="en-US" sz="1500" dirty="0">
                <a:highlight>
                  <a:srgbClr val="FFFFFF"/>
                </a:highlight>
              </a:rPr>
              <a:t>Link: </a:t>
            </a:r>
            <a:r>
              <a:rPr lang="en-US" sz="1500" dirty="0"/>
              <a:t>https://www.researchgate.net/publication/378146344_Career_Craft_A_Student_Training_and_Freelancing_Platform</a:t>
            </a:r>
            <a:endParaRPr lang="en-US" b="1" dirty="0">
              <a:highlight>
                <a:srgbClr val="FFFFFF"/>
              </a:highlight>
            </a:endParaRPr>
          </a:p>
          <a:p>
            <a:r>
              <a:rPr lang="en-US" b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IJERT(</a:t>
            </a:r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2026). Student Exchange Emporium: Promoting Sustainability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	</a:t>
            </a:r>
            <a:r>
              <a:rPr lang="en-US" sz="1500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Link: </a:t>
            </a:r>
            <a:r>
              <a:rPr lang="en-US" sz="1500" dirty="0">
                <a:solidFill>
                  <a:srgbClr val="333333"/>
                </a:solidFill>
                <a:ea typeface="+mn-lt"/>
                <a:cs typeface="+mn-lt"/>
              </a:rPr>
              <a:t>https://www.ijert.org/camplink-a-smart-platform-for-collaborative-networking-and-local-freelance-exchange-	among-college-students</a:t>
            </a:r>
            <a:endParaRPr lang="en-US" dirty="0">
              <a:solidFill>
                <a:srgbClr val="333333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IJFMR(2025). Connect Sphere: A Peer-To-Peer Student Marketplace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	</a:t>
            </a:r>
            <a:r>
              <a:rPr lang="en-US" sz="1600" dirty="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Link: </a:t>
            </a:r>
            <a:r>
              <a:rPr lang="en-US" sz="1600" dirty="0">
                <a:solidFill>
                  <a:srgbClr val="333333"/>
                </a:solidFill>
                <a:ea typeface="+mn-lt"/>
                <a:cs typeface="+mn-lt"/>
              </a:rPr>
              <a:t>https://www.ijfmr.com/papers/2025/5/58019.pdf</a:t>
            </a:r>
            <a:endParaRPr lang="en-US" sz="16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7198254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</TotalTime>
  <Words>1597</Words>
  <Application>Microsoft Office PowerPoint</Application>
  <PresentationFormat>Widescreen</PresentationFormat>
  <Paragraphs>182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Bierstadt</vt:lpstr>
      <vt:lpstr>GestaltVTI</vt:lpstr>
      <vt:lpstr>A Hyper-Local Campus Freelance &amp; Skill Exchange Marketplace</vt:lpstr>
      <vt:lpstr>INTRODUCTION</vt:lpstr>
      <vt:lpstr>PROBLEM STATEMENT</vt:lpstr>
      <vt:lpstr>OBJECTIVES</vt:lpstr>
      <vt:lpstr>GAP IDENTIFIED</vt:lpstr>
      <vt:lpstr>LITERATURE SURVEY REPORT</vt:lpstr>
      <vt:lpstr>PROPOSED SOLUTION</vt:lpstr>
      <vt:lpstr>MODULE DESCRIPTION</vt:lpstr>
      <vt:lpstr>FUNCTIONAL REQUIREMENTS</vt:lpstr>
      <vt:lpstr>NON-FUNCTIONAL REQUIREMENTS</vt:lpstr>
      <vt:lpstr>NON-FUNCTIONAL REQUIREMENTS</vt:lpstr>
      <vt:lpstr>NON-FUNCTIONAL REQUIREMENTS</vt:lpstr>
      <vt:lpstr>USE CASE DIAGRAM</vt:lpstr>
      <vt:lpstr>ER DIRAGRAM</vt:lpstr>
      <vt:lpstr>SOFTWARE &amp; HARDWARE  REQUIREMENTS</vt:lpstr>
      <vt:lpstr>GANTT CHART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Athul S L</dc:creator>
  <cp:lastModifiedBy>acer</cp:lastModifiedBy>
  <cp:revision>106</cp:revision>
  <dcterms:created xsi:type="dcterms:W3CDTF">2026-01-11T14:30:37Z</dcterms:created>
  <dcterms:modified xsi:type="dcterms:W3CDTF">2026-02-18T06:13:08Z</dcterms:modified>
</cp:coreProperties>
</file>